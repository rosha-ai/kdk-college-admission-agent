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81" r:id="rId7"/>
    <p:sldId id="292" r:id="rId8"/>
    <p:sldId id="296" r:id="rId9"/>
    <p:sldId id="291" r:id="rId10"/>
    <p:sldId id="293" r:id="rId11"/>
    <p:sldId id="294" r:id="rId12"/>
    <p:sldId id="264"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27032458"/>
              </p:ext>
            </p:extLst>
          </p:nvPr>
        </p:nvGraphicFramePr>
        <p:xfrm>
          <a:off x="884420" y="2600315"/>
          <a:ext cx="9809824" cy="2167128"/>
        </p:xfrm>
        <a:graphic>
          <a:graphicData uri="http://schemas.openxmlformats.org/drawingml/2006/table">
            <a:tbl>
              <a:tblPr>
                <a:noFill/>
                <a:tableStyleId>{0AAD8F4D-43EB-41E5-8A38-28AB6DFB1B60}</a:tableStyleId>
              </a:tblPr>
              <a:tblGrid>
                <a:gridCol w="2938072">
                  <a:extLst>
                    <a:ext uri="{9D8B030D-6E8A-4147-A177-3AD203B41FA5}">
                      <a16:colId xmlns:a16="http://schemas.microsoft.com/office/drawing/2014/main" val="20000"/>
                    </a:ext>
                  </a:extLst>
                </a:gridCol>
                <a:gridCol w="2474494">
                  <a:extLst>
                    <a:ext uri="{9D8B030D-6E8A-4147-A177-3AD203B41FA5}">
                      <a16:colId xmlns:a16="http://schemas.microsoft.com/office/drawing/2014/main" val="20002"/>
                    </a:ext>
                  </a:extLst>
                </a:gridCol>
                <a:gridCol w="2198629">
                  <a:extLst>
                    <a:ext uri="{9D8B030D-6E8A-4147-A177-3AD203B41FA5}">
                      <a16:colId xmlns:a16="http://schemas.microsoft.com/office/drawing/2014/main" val="20003"/>
                    </a:ext>
                  </a:extLst>
                </a:gridCol>
                <a:gridCol w="2198629">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1600" dirty="0"/>
                        <a:t>   </a:t>
                      </a:r>
                    </a:p>
                    <a:p>
                      <a:pPr marL="0" marR="0" lvl="0" indent="0" algn="l" rtl="0">
                        <a:spcBef>
                          <a:spcPts val="0"/>
                        </a:spcBef>
                        <a:spcAft>
                          <a:spcPts val="0"/>
                        </a:spcAft>
                        <a:buNone/>
                      </a:pPr>
                      <a:r>
                        <a:rPr lang="en-US" sz="1600" dirty="0"/>
                        <a:t>   Roshani Ravi Pothare</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a:t>
                      </a:r>
                    </a:p>
                    <a:p>
                      <a:pPr marL="0" marR="0" lvl="0" indent="0" algn="l" rtl="0">
                        <a:spcBef>
                          <a:spcPts val="0"/>
                        </a:spcBef>
                        <a:spcAft>
                          <a:spcPts val="0"/>
                        </a:spcAft>
                        <a:buNone/>
                      </a:pPr>
                      <a:r>
                        <a:rPr lang="en-US" dirty="0"/>
                        <a:t>roshanipothare56@gmail.com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dirty="0"/>
                        <a:t>7798546556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US" sz="2800" b="1" dirty="0">
                <a:highlight>
                  <a:srgbClr val="FFFF00"/>
                </a:highlight>
              </a:rPr>
              <a:t>[ Education ]</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800" b="1" dirty="0">
                <a:solidFill>
                  <a:srgbClr val="002060"/>
                </a:solidFill>
                <a:highlight>
                  <a:srgbClr val="FFFF00"/>
                </a:highlight>
                <a:latin typeface="Times New Roman"/>
                <a:cs typeface="Times New Roman"/>
                <a:sym typeface="Times New Roman"/>
              </a:rPr>
              <a:t>College Admission Agent (RAG Based</a:t>
            </a:r>
            <a:r>
              <a:rPr lang="en-US" sz="2400" b="1" dirty="0">
                <a:solidFill>
                  <a:srgbClr val="002060"/>
                </a:solidFill>
                <a:highlight>
                  <a:srgbClr val="FFFF00"/>
                </a:highlight>
                <a:latin typeface="Times New Roman"/>
                <a:cs typeface="Times New Roman"/>
                <a:sym typeface="Times New Roman"/>
              </a:rPr>
              <a: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10" name="Picture 9">
            <a:extLst>
              <a:ext uri="{FF2B5EF4-FFF2-40B4-BE49-F238E27FC236}">
                <a16:creationId xmlns:a16="http://schemas.microsoft.com/office/drawing/2014/main" id="{3E99A5AE-9EE0-3C88-290F-A2B73E366025}"/>
              </a:ext>
            </a:extLst>
          </p:cNvPr>
          <p:cNvPicPr>
            <a:picLocks noChangeAspect="1"/>
          </p:cNvPicPr>
          <p:nvPr/>
        </p:nvPicPr>
        <p:blipFill>
          <a:blip r:embed="rId3"/>
          <a:stretch>
            <a:fillRect/>
          </a:stretch>
        </p:blipFill>
        <p:spPr>
          <a:xfrm>
            <a:off x="4332760" y="3596359"/>
            <a:ext cx="1438454" cy="11710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370427"/>
          </a:xfrm>
          <a:prstGeom prst="rect">
            <a:avLst/>
          </a:prstGeom>
          <a:noFill/>
        </p:spPr>
        <p:txBody>
          <a:bodyPr wrap="square" rtlCol="0">
            <a:spAutoFit/>
          </a:bodyPr>
          <a:lstStyle/>
          <a:p>
            <a:pPr fontAlgn="base"/>
            <a:r>
              <a:rPr lang="en-US" sz="1800" b="1" dirty="0"/>
              <a:t>Problem Statement : College Admission Agent (RAG Based)</a:t>
            </a:r>
            <a:endParaRPr lang="en-US" sz="1800" dirty="0"/>
          </a:p>
          <a:p>
            <a:pPr fontAlgn="base"/>
            <a:endParaRPr lang="en-US" sz="1800" b="1" dirty="0"/>
          </a:p>
          <a:p>
            <a:pPr fontAlgn="base"/>
            <a:r>
              <a:rPr lang="en-US" sz="1800" b="1" dirty="0"/>
              <a:t>The Challenge</a:t>
            </a:r>
            <a:r>
              <a:rPr lang="en-US" sz="1800" dirty="0"/>
              <a:t> </a:t>
            </a:r>
          </a:p>
          <a:p>
            <a:pPr fontAlgn="base"/>
            <a:r>
              <a:rPr lang="en-US" sz="1600" dirty="0"/>
              <a:t>A College Admission Agent, powered by RAG (Retrieval-Augmented Generation), streamlines the student admission process. It retrieves and summarizes admission policies, eligibility criteria, and FAQs from institutional databases and official sources. Prospective students can ask natural language questions and receive accurate, up-to-date responses instantly.</a:t>
            </a:r>
          </a:p>
          <a:p>
            <a:pPr fontAlgn="base"/>
            <a:endParaRPr lang="en-US" sz="1600" dirty="0"/>
          </a:p>
          <a:p>
            <a:pPr fontAlgn="base"/>
            <a:r>
              <a:rPr lang="en-US" sz="1600" b="1" dirty="0"/>
              <a:t>The Objective</a:t>
            </a:r>
            <a:r>
              <a:rPr lang="en-US" sz="1600" dirty="0"/>
              <a:t> </a:t>
            </a:r>
          </a:p>
          <a:p>
            <a:pPr marL="285750" indent="-285750">
              <a:buFont typeface="Arial" panose="020B0604020202020204" pitchFamily="34" charset="0"/>
              <a:buChar char="•"/>
            </a:pPr>
            <a:r>
              <a:rPr lang="en-US" sz="1600" dirty="0"/>
              <a:t>Build an AI-powered College Admission Agent that streamlines the student admission process and provides accurate, up-to-date responses. The solution should:</a:t>
            </a:r>
          </a:p>
          <a:p>
            <a:pPr marL="285750" indent="-285750">
              <a:buFont typeface="Arial" panose="020B0604020202020204" pitchFamily="34" charset="0"/>
              <a:buChar char="•"/>
            </a:pPr>
            <a:r>
              <a:rPr lang="en-US" sz="1600" dirty="0"/>
              <a:t>Course &amp; Policy Retrieval – Fetch and summarize admission policies, eligibility criteria, and FAQs from institutional databases.</a:t>
            </a:r>
          </a:p>
          <a:p>
            <a:pPr marL="285750" indent="-285750">
              <a:buFont typeface="Arial" panose="020B0604020202020204" pitchFamily="34" charset="0"/>
              <a:buChar char="•"/>
            </a:pPr>
            <a:r>
              <a:rPr lang="en-US" sz="1600" dirty="0"/>
              <a:t>Natural Language Queries – Allow prospective students to ask questions and receive instant answers.</a:t>
            </a:r>
          </a:p>
          <a:p>
            <a:pPr marL="285750" indent="-285750">
              <a:buFont typeface="Arial" panose="020B0604020202020204" pitchFamily="34" charset="0"/>
              <a:buChar char="•"/>
            </a:pPr>
            <a:r>
              <a:rPr lang="en-US" sz="1600" dirty="0"/>
              <a:t>Admission Guidance – Assist with course selection, application guidance, fee structure, and important deadlines.</a:t>
            </a:r>
          </a:p>
          <a:p>
            <a:pPr marL="285750" indent="-285750">
              <a:buFont typeface="Arial" panose="020B0604020202020204" pitchFamily="34" charset="0"/>
              <a:buChar char="•"/>
            </a:pPr>
            <a:r>
              <a:rPr lang="en-US" sz="1600" dirty="0"/>
              <a:t>Enhanced Experience – Reduce manual inquiries, boost transparency, accessibility, and efficiency in college admissions using trusted, real-time data.</a:t>
            </a:r>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r>
              <a:rPr lang="en-US" sz="2400" b="1" dirty="0"/>
              <a:t>-</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01205"/>
          </a:xfrm>
          <a:prstGeom prst="rect">
            <a:avLst/>
          </a:prstGeom>
          <a:noFill/>
        </p:spPr>
        <p:txBody>
          <a:bodyPr wrap="square" rtlCol="0">
            <a:spAutoFit/>
          </a:bodyPr>
          <a:lstStyle/>
          <a:p>
            <a:pPr fontAlgn="base"/>
            <a:endParaRPr lang="en-US" b="1" dirty="0"/>
          </a:p>
          <a:p>
            <a:r>
              <a:rPr lang="en-US" b="1" dirty="0"/>
              <a:t>Proposed Solution: AI-Powered College Admission Agent </a:t>
            </a:r>
            <a:endParaRPr lang="en-US" dirty="0"/>
          </a:p>
          <a:p>
            <a:r>
              <a:rPr lang="en-US" dirty="0"/>
              <a:t>​The proposed solution is a multi-agent AI-powered College Admission Agent built using </a:t>
            </a:r>
            <a:r>
              <a:rPr lang="en-US" dirty="0" err="1"/>
              <a:t>LangFlow</a:t>
            </a:r>
            <a:r>
              <a:rPr lang="en-US" dirty="0"/>
              <a:t>, IBM watsonx.ai, and Granite Models to provide personalized, real-time guidance for prospective students. The system addresses challenges in course selection, policy retrieval, and application tracking through an intelligent, modular architecture.</a:t>
            </a:r>
          </a:p>
          <a:p>
            <a:r>
              <a:rPr lang="en-US" dirty="0"/>
              <a:t>​At its core, the solution uses a Retrieval-Augmented Generation (RAG) pipeline to fetch accurate admission policies, eligibility criteria, and FAQs from institutional databases and official sources. This data is embedded and stored in a vector database, enabling the system to retrieve and summarize details using Granite models.</a:t>
            </a:r>
          </a:p>
          <a:p>
            <a:r>
              <a:rPr lang="en-US" dirty="0"/>
              <a:t>​The system consists of four key agents:</a:t>
            </a:r>
          </a:p>
          <a:p>
            <a:r>
              <a:rPr lang="en-US" dirty="0"/>
              <a:t>​Admission Policy Agent retrieves and summarizes institutional guidelines and requirements using RAG.</a:t>
            </a:r>
          </a:p>
          <a:p>
            <a:r>
              <a:rPr lang="en-US" dirty="0"/>
              <a:t>​Course Recommendation Agent generates personalized course and program options based on student marks, interests, and eligibility.</a:t>
            </a:r>
          </a:p>
          <a:p>
            <a:r>
              <a:rPr lang="en-US" dirty="0"/>
              <a:t>​Fee &amp; Deadline Advisory Agent provides structured timelines, fee structures, and critical application schedules.</a:t>
            </a:r>
          </a:p>
          <a:p>
            <a:r>
              <a:rPr lang="en-US" dirty="0"/>
              <a:t>​Application Tracker &amp; Support Agent allows students to check application statuses and answers admission inquiries with instant feedback.</a:t>
            </a:r>
          </a:p>
          <a:p>
            <a:r>
              <a:rPr lang="en-US" dirty="0"/>
              <a:t>​The solution includes a user-friendly dashboard (built with </a:t>
            </a:r>
            <a:r>
              <a:rPr lang="en-US" dirty="0" err="1"/>
              <a:t>Streamlit</a:t>
            </a:r>
            <a:r>
              <a:rPr lang="en-US" dirty="0"/>
              <a:t> or React) that tracks application progress and displays relevant university details. </a:t>
            </a:r>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end-to-end intelligent admission assistant that streamlines the enrollment journey through transparent guidance, real-time feedback, and accurate policy information.</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College Admission Agent efficiently. IBM Cloud enables a </a:t>
            </a:r>
            <a:r>
              <a:rPr lang="en-US" sz="1800" b="1" dirty="0"/>
              <a:t>reliable, secure, and scalable environment</a:t>
            </a:r>
            <a:r>
              <a:rPr lang="en-US" sz="1800" dirty="0"/>
              <a:t> for deploying the College Admission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College Admission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admission policy and FAQ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p>
          <a:p>
            <a:pPr marL="0" marR="0" lvl="0" indent="0" algn="l" rtl="0">
              <a:lnSpc>
                <a:spcPct val="100000"/>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278094"/>
          </a:xfrm>
          <a:prstGeom prst="rect">
            <a:avLst/>
          </a:prstGeom>
          <a:noFill/>
        </p:spPr>
        <p:txBody>
          <a:bodyPr wrap="square" rtlCol="0">
            <a:spAutoFit/>
          </a:bodyPr>
          <a:lstStyle/>
          <a:p>
            <a:pPr marL="342900" indent="-342900">
              <a:buFont typeface="+mj-lt"/>
              <a:buAutoNum type="arabicParenR"/>
            </a:pPr>
            <a:r>
              <a:rPr lang="en-IN" dirty="0"/>
              <a:t>​</a:t>
            </a:r>
            <a:r>
              <a:rPr lang="en-IN" sz="1600" dirty="0"/>
              <a:t>Chat Input – Interface where prospective students enter their queries, questions regarding courses, fees, or deadlines.  </a:t>
            </a:r>
          </a:p>
          <a:p>
            <a:pPr marL="342900" indent="-342900">
              <a:buFont typeface="+mj-lt"/>
              <a:buAutoNum type="arabicParenR"/>
            </a:pPr>
            <a:endParaRPr lang="en-IN" sz="1600" dirty="0"/>
          </a:p>
          <a:p>
            <a:pPr marL="342900" indent="-342900">
              <a:buFont typeface="+mj-lt"/>
              <a:buAutoNum type="arabicParenR"/>
            </a:pPr>
            <a:r>
              <a:rPr lang="en-IN" sz="1600" dirty="0"/>
              <a:t>​IBM </a:t>
            </a:r>
            <a:r>
              <a:rPr lang="en-IN" sz="1600" dirty="0" err="1"/>
              <a:t>watsonx</a:t>
            </a:r>
            <a:r>
              <a:rPr lang="en-IN" sz="1600" dirty="0"/>
              <a:t> AI Agent – Processes student inputs using Granite models to generate accurate information and recommendations.  </a:t>
            </a:r>
          </a:p>
          <a:p>
            <a:pPr marL="342900" indent="-342900">
              <a:buFont typeface="+mj-lt"/>
              <a:buAutoNum type="arabicParenR"/>
            </a:pPr>
            <a:endParaRPr lang="en-IN" sz="1600" dirty="0"/>
          </a:p>
          <a:p>
            <a:pPr marL="342900" indent="-342900">
              <a:buFont typeface="+mj-lt"/>
              <a:buAutoNum type="arabicParenR"/>
            </a:pPr>
            <a:r>
              <a:rPr lang="en-IN" sz="1600" dirty="0"/>
              <a:t>​Name of IBM Granite model – Granite-4.0-8B-Instruct → Fast, efficient for real-time admission support.  </a:t>
            </a:r>
          </a:p>
          <a:p>
            <a:pPr marL="342900" indent="-342900">
              <a:buFont typeface="+mj-lt"/>
              <a:buAutoNum type="arabicParenR"/>
            </a:pPr>
            <a:endParaRPr lang="en-IN" sz="1600" dirty="0"/>
          </a:p>
          <a:p>
            <a:pPr marL="342900" indent="-342900">
              <a:buFont typeface="+mj-lt"/>
              <a:buAutoNum type="arabicParenR"/>
            </a:pPr>
            <a:r>
              <a:rPr lang="en-IN" sz="1600" dirty="0"/>
              <a:t>​Chat output – Displays AI-generated responses such as policy details, course lists, and fee structures.  </a:t>
            </a:r>
          </a:p>
          <a:p>
            <a:pPr marL="342900" indent="-342900">
              <a:buFont typeface="+mj-lt"/>
              <a:buAutoNum type="arabicParenR"/>
            </a:pPr>
            <a:endParaRPr lang="en-IN" sz="1600" dirty="0"/>
          </a:p>
          <a:p>
            <a:pPr marL="342900" indent="-342900">
              <a:buFont typeface="+mj-lt"/>
              <a:buAutoNum type="arabicParenR"/>
            </a:pPr>
            <a:r>
              <a:rPr lang="en-IN" sz="1600" dirty="0"/>
              <a:t>​File component – Stores and retrieves institutional documents, admission guidelines, and FAQ datasets for analysis.  </a:t>
            </a:r>
          </a:p>
          <a:p>
            <a:pPr marL="342900" indent="-342900">
              <a:buFont typeface="+mj-lt"/>
              <a:buAutoNum type="arabicParenR"/>
            </a:pPr>
            <a:endParaRPr lang="en-IN" sz="1600" dirty="0"/>
          </a:p>
          <a:p>
            <a:pPr marL="342900" indent="-342900">
              <a:buFont typeface="+mj-lt"/>
              <a:buAutoNum type="arabicParenR"/>
            </a:pPr>
            <a:r>
              <a:rPr lang="en-IN" sz="1600" dirty="0"/>
              <a:t>​Vector Store / Retriever component – For RAG-based document processing and policy retrieval.</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115F4-6044-F182-CF56-F40270BF9E27}"/>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F72AA379-36CA-ED1D-ACA9-047C20D01629}"/>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C39CB90-E173-9DCB-8A82-C0F4D6DAE102}"/>
              </a:ext>
            </a:extLst>
          </p:cNvPr>
          <p:cNvPicPr>
            <a:picLocks noChangeAspect="1"/>
          </p:cNvPicPr>
          <p:nvPr/>
        </p:nvPicPr>
        <p:blipFill>
          <a:blip r:embed="rId2"/>
          <a:stretch>
            <a:fillRect/>
          </a:stretch>
        </p:blipFill>
        <p:spPr>
          <a:xfrm>
            <a:off x="0" y="215881"/>
            <a:ext cx="12192000" cy="6426237"/>
          </a:xfrm>
          <a:prstGeom prst="rect">
            <a:avLst/>
          </a:prstGeom>
        </p:spPr>
      </p:pic>
    </p:spTree>
    <p:extLst>
      <p:ext uri="{BB962C8B-B14F-4D97-AF65-F5344CB8AC3E}">
        <p14:creationId xmlns:p14="http://schemas.microsoft.com/office/powerpoint/2010/main" val="237584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2109-4160-6DE1-CA5A-FB044E2E778F}"/>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74EEC8FE-8690-862D-58E4-3F15F8A58D53}"/>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C25822C7-B406-FB83-54B7-0F66D17D1B9B}"/>
              </a:ext>
            </a:extLst>
          </p:cNvPr>
          <p:cNvPicPr>
            <a:picLocks noChangeAspect="1"/>
          </p:cNvPicPr>
          <p:nvPr/>
        </p:nvPicPr>
        <p:blipFill>
          <a:blip r:embed="rId2"/>
          <a:stretch>
            <a:fillRect/>
          </a:stretch>
        </p:blipFill>
        <p:spPr>
          <a:xfrm>
            <a:off x="0" y="215881"/>
            <a:ext cx="12192000" cy="6426237"/>
          </a:xfrm>
          <a:prstGeom prst="rect">
            <a:avLst/>
          </a:prstGeom>
        </p:spPr>
      </p:pic>
    </p:spTree>
    <p:extLst>
      <p:ext uri="{BB962C8B-B14F-4D97-AF65-F5344CB8AC3E}">
        <p14:creationId xmlns:p14="http://schemas.microsoft.com/office/powerpoint/2010/main" val="523646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D7D5A-9E47-A79D-E400-B8228FDE9157}"/>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F62468E4-F7CA-E1D9-D861-E26DB6A5C3AE}"/>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3AFD8B2F-A483-1C32-62A1-7910B0C9834D}"/>
              </a:ext>
            </a:extLst>
          </p:cNvPr>
          <p:cNvPicPr>
            <a:picLocks noChangeAspect="1"/>
          </p:cNvPicPr>
          <p:nvPr/>
        </p:nvPicPr>
        <p:blipFill>
          <a:blip r:embed="rId2"/>
          <a:stretch>
            <a:fillRect/>
          </a:stretch>
        </p:blipFill>
        <p:spPr>
          <a:xfrm>
            <a:off x="0" y="215881"/>
            <a:ext cx="12192000" cy="6426237"/>
          </a:xfrm>
          <a:prstGeom prst="rect">
            <a:avLst/>
          </a:prstGeom>
        </p:spPr>
      </p:pic>
    </p:spTree>
    <p:extLst>
      <p:ext uri="{BB962C8B-B14F-4D97-AF65-F5344CB8AC3E}">
        <p14:creationId xmlns:p14="http://schemas.microsoft.com/office/powerpoint/2010/main" val="335213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1E73-4A65-8EB1-C241-427AF5C551A0}"/>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CCD78AC4-7B10-AB66-77B7-C2EAE3DCCBDB}"/>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C51D209B-5352-1320-95F7-8AAC9A69EEAA}"/>
              </a:ext>
            </a:extLst>
          </p:cNvPr>
          <p:cNvPicPr>
            <a:picLocks noChangeAspect="1"/>
          </p:cNvPicPr>
          <p:nvPr/>
        </p:nvPicPr>
        <p:blipFill>
          <a:blip r:embed="rId2"/>
          <a:stretch>
            <a:fillRect/>
          </a:stretch>
        </p:blipFill>
        <p:spPr>
          <a:xfrm>
            <a:off x="0" y="215881"/>
            <a:ext cx="12192000" cy="6426237"/>
          </a:xfrm>
          <a:prstGeom prst="rect">
            <a:avLst/>
          </a:prstGeom>
        </p:spPr>
      </p:pic>
    </p:spTree>
    <p:extLst>
      <p:ext uri="{BB962C8B-B14F-4D97-AF65-F5344CB8AC3E}">
        <p14:creationId xmlns:p14="http://schemas.microsoft.com/office/powerpoint/2010/main" val="2879227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0CB8D-C8D9-3842-2170-B33F09AC1444}"/>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6C70265A-88AD-D4F0-B63A-A187EDAC947A}"/>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CB3E939E-39EF-C6E9-BC78-1970D2DAD7AB}"/>
              </a:ext>
            </a:extLst>
          </p:cNvPr>
          <p:cNvPicPr>
            <a:picLocks noChangeAspect="1"/>
          </p:cNvPicPr>
          <p:nvPr/>
        </p:nvPicPr>
        <p:blipFill>
          <a:blip r:embed="rId2"/>
          <a:stretch>
            <a:fillRect/>
          </a:stretch>
        </p:blipFill>
        <p:spPr>
          <a:xfrm>
            <a:off x="0" y="133991"/>
            <a:ext cx="12192000" cy="6590018"/>
          </a:xfrm>
          <a:prstGeom prst="rect">
            <a:avLst/>
          </a:prstGeom>
        </p:spPr>
      </p:pic>
    </p:spTree>
    <p:extLst>
      <p:ext uri="{BB962C8B-B14F-4D97-AF65-F5344CB8AC3E}">
        <p14:creationId xmlns:p14="http://schemas.microsoft.com/office/powerpoint/2010/main" val="3788367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IBM </a:t>
            </a:r>
            <a:r>
              <a:rPr lang="en-US" b="1" dirty="0" err="1"/>
              <a:t>watsonx</a:t>
            </a:r>
            <a:r>
              <a:rPr lang="en-US" b="1" dirty="0"/>
              <a:t>  </a:t>
            </a:r>
            <a:r>
              <a:rPr lang="en-US" b="1" dirty="0" err="1"/>
              <a:t>Assitantant</a:t>
            </a:r>
            <a:r>
              <a:rPr lang="en-US" b="1" dirty="0"/>
              <a:t> in KDK Admission Bot</a:t>
            </a:r>
          </a:p>
          <a:p>
            <a:r>
              <a:rPr lang="en-US" b="1" dirty="0"/>
              <a:t>IBM </a:t>
            </a:r>
            <a:r>
              <a:rPr lang="en-US" b="1" dirty="0" err="1"/>
              <a:t>watsonx</a:t>
            </a:r>
            <a:r>
              <a:rPr lang="en-US" b="1" dirty="0"/>
              <a:t> Assistant enables the Admission Bot to function as an intelligent, interactive virtual assistant rather than a static webpage. Using natural language intent recognition and structured dialog actions, it automates responses to provide prospective students with instant, accurate information about KDK College of Engineering.</a:t>
            </a:r>
          </a:p>
          <a:p>
            <a:r>
              <a:rPr lang="en-US" b="1" dirty="0"/>
              <a:t>​Each action performs a specific role—such as greeting users by name using session variables, listing engineering branches (Computer Science, AI &amp; DS, Information Technology, and Civil Engineering), detailing fee structures and eligibility criteria, and capturing applicant contact details for enrollment. This modular design ensures efficient conversation flow and accurate data collection.</a:t>
            </a:r>
          </a:p>
          <a:p>
            <a:r>
              <a:rPr lang="en-US" b="1" dirty="0"/>
              <a:t>​The assistant also brings context awareness, tracking user choices across steps to deliver tailored guidance. It supports real-time interaction, responding dynamically to student inputs during the admission inquiry process. Additionally, action variables securely store and pass user data between turns, enabling smooth navigation and a seamless user experience.</a:t>
            </a:r>
          </a:p>
          <a:p>
            <a:r>
              <a:rPr lang="en-US" b="1" dirty="0"/>
              <a:t>​Overall, the solution makes the college admission process proactive, personalized, and accessible, acting like a smart digital counselor that helps students easily explore programs and connect with KDK College.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985980"/>
          </a:xfrm>
          <a:prstGeom prst="rect">
            <a:avLst/>
          </a:prstGeom>
          <a:noFill/>
        </p:spPr>
        <p:txBody>
          <a:bodyPr wrap="square" rtlCol="0">
            <a:spAutoFit/>
          </a:bodyPr>
          <a:lstStyle/>
          <a:p>
            <a:r>
              <a:rPr lang="en-US" sz="1600" dirty="0"/>
              <a:t>The proposed College Admission Agent stands out by combining Conversational AI, RAG (Retrieval-Augmented Generation), and rule-based guidance into an intelligent, seamless admission system.</a:t>
            </a:r>
          </a:p>
          <a:p>
            <a:endParaRPr lang="en-US" sz="1600" dirty="0"/>
          </a:p>
          <a:p>
            <a:r>
              <a:rPr lang="en-US" dirty="0"/>
              <a:t>​</a:t>
            </a:r>
            <a:r>
              <a:rPr lang="en-US" sz="1600" b="1" dirty="0"/>
              <a:t>Context-Aware Dialog Flow </a:t>
            </a:r>
            <a:r>
              <a:rPr lang="en-US" dirty="0"/>
              <a:t>– </a:t>
            </a:r>
            <a:r>
              <a:rPr lang="en-US" sz="1800" dirty="0"/>
              <a:t>Employs structured intent management to guide prospective students methodically from initial branch exploration to final enrollment.</a:t>
            </a:r>
          </a:p>
          <a:p>
            <a:r>
              <a:rPr lang="en-US" sz="1800" dirty="0"/>
              <a:t>​</a:t>
            </a:r>
            <a:r>
              <a:rPr lang="en-US" sz="1800" b="1" dirty="0"/>
              <a:t>RAG-Based Grounded Accuracy </a:t>
            </a:r>
            <a:r>
              <a:rPr lang="en-US" sz="1800" dirty="0"/>
              <a:t>– Integrates retrieval against verified college documentation with generative AI, minimizing hallucinations and ensuring reliable fee and eligibility details.</a:t>
            </a:r>
          </a:p>
          <a:p>
            <a:r>
              <a:rPr lang="en-US" sz="1800" dirty="0"/>
              <a:t>​</a:t>
            </a:r>
            <a:r>
              <a:rPr lang="en-US" sz="1800" b="1" dirty="0"/>
              <a:t>Personalized Stream Counseling </a:t>
            </a:r>
            <a:r>
              <a:rPr lang="en-US" sz="1800" dirty="0"/>
              <a:t>– Tailors academic recommendations dynamically based on applicant qualifications, entrance scores, and specific engineering interests (e.g., CSE, AI &amp; DS, IT, Civil).</a:t>
            </a:r>
          </a:p>
          <a:p>
            <a:r>
              <a:rPr lang="en-US" sz="1800" dirty="0"/>
              <a:t>​</a:t>
            </a:r>
            <a:r>
              <a:rPr lang="en-US" sz="1800" b="1" dirty="0"/>
              <a:t>Automated Lead &amp; Profile Capture </a:t>
            </a:r>
            <a:r>
              <a:rPr lang="en-US" sz="1800" dirty="0"/>
              <a:t>– Collects applicant contact and academic data interactively without cumbersome static admission forms.</a:t>
            </a:r>
          </a:p>
          <a:p>
            <a:r>
              <a:rPr lang="en-US" sz="1800" dirty="0"/>
              <a:t>​</a:t>
            </a:r>
            <a:r>
              <a:rPr lang="en-US" sz="1800" b="1" dirty="0"/>
              <a:t>Round-the-Clock Accessibility </a:t>
            </a:r>
            <a:r>
              <a:rPr lang="en-US" sz="1800" dirty="0"/>
              <a:t>– Eliminates manual desk bottlenecks by offering instantaneous, 24/7 counseling support to students and guardians.</a:t>
            </a:r>
          </a:p>
          <a:p>
            <a:r>
              <a:rPr lang="en-US" sz="1800" dirty="0"/>
              <a:t>​</a:t>
            </a:r>
            <a:r>
              <a:rPr lang="en-US" sz="1800" b="1" dirty="0"/>
              <a:t>Scalable &amp; Enterprise-Ready </a:t>
            </a:r>
            <a:r>
              <a:rPr lang="en-US" sz="1800" dirty="0"/>
              <a:t>– Built on IBM </a:t>
            </a:r>
            <a:r>
              <a:rPr lang="en-US" sz="1800" dirty="0" err="1"/>
              <a:t>watsonx</a:t>
            </a:r>
            <a:r>
              <a:rPr lang="en-US" sz="1800" dirty="0"/>
              <a:t> Assistant with IBM watsonx.ai runtime, ensuring robust compliance, data governance, and rapid deployment.</a:t>
            </a:r>
          </a:p>
          <a:p>
            <a:endParaRPr lang="en-US" sz="1800" dirty="0"/>
          </a:p>
          <a:p>
            <a:r>
              <a:rPr lang="en-US" sz="1800" dirty="0"/>
              <a:t>​This makes the solution a smart, adaptive, and proactive digital admission counselor, far surpassing static FAQ pages or basic chatbots</a:t>
            </a:r>
            <a:r>
              <a:rPr lang="en-US" dirty="0"/>
              <a:t>.</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a:t>
            </a:r>
            <a:r>
              <a:rPr lang="en-US" sz="1850">
                <a:solidFill>
                  <a:srgbClr val="2B3541"/>
                </a:solidFill>
                <a:latin typeface="Times New Roman"/>
                <a:ea typeface="Times New Roman"/>
                <a:cs typeface="Times New Roman"/>
                <a:sym typeface="Times New Roman"/>
              </a:rPr>
              <a:t>URL –</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a:solidFill>
                  <a:srgbClr val="2B3541"/>
                </a:solidFill>
                <a:latin typeface="Times New Roman"/>
                <a:ea typeface="Times New Roman"/>
                <a:cs typeface="Times New Roman"/>
                <a:sym typeface="Times New Roman"/>
              </a:rPr>
              <a:t>https</a:t>
            </a:r>
            <a:r>
              <a:rPr lang="en-US" sz="1850" dirty="0">
                <a:solidFill>
                  <a:srgbClr val="2B3541"/>
                </a:solidFill>
                <a:latin typeface="Times New Roman"/>
                <a:ea typeface="Times New Roman"/>
                <a:cs typeface="Times New Roman"/>
                <a:sym typeface="Times New Roman"/>
              </a:rPr>
              <a:t>://github.com/Rosha-ai/KDK-College-Admission-Agent</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College ERP &amp; Student Management Systems – </a:t>
            </a:r>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a:t>
            </a:r>
            <a:r>
              <a:rPr lang="en-US" sz="1850" dirty="0">
                <a:solidFill>
                  <a:srgbClr val="2B3541"/>
                </a:solidFill>
                <a:latin typeface="Times New Roman"/>
                <a:ea typeface="Times New Roman"/>
                <a:cs typeface="Times New Roman"/>
                <a:sym typeface="Times New Roman"/>
              </a:rPr>
              <a:t> The admission assistant can be integrated directly with the college ERP database and applicant portals. This will enable real-time tracking of seat availability across branches, instant application status checks, automated merit list notifications, and secure digital fee verification.</a:t>
            </a: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Enhancing the system with voice interaction and regional language translation (such as Hindi and Marathi alongside English) will significantly improve accessibility. Prospective students and parents can interact naturally via spoken queries or their native language, ensuring a smooth, inclusive admission counseling experience.</a:t>
            </a:r>
            <a:endParaRPr lang="en-US" sz="1850" b="0"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9" name="Picture 8">
            <a:extLst>
              <a:ext uri="{FF2B5EF4-FFF2-40B4-BE49-F238E27FC236}">
                <a16:creationId xmlns:a16="http://schemas.microsoft.com/office/drawing/2014/main" id="{63349C1C-D209-9565-DAA0-EA550844E90D}"/>
              </a:ext>
            </a:extLst>
          </p:cNvPr>
          <p:cNvPicPr>
            <a:picLocks noChangeAspect="1"/>
          </p:cNvPicPr>
          <p:nvPr/>
        </p:nvPicPr>
        <p:blipFill>
          <a:blip r:embed="rId2"/>
          <a:stretch>
            <a:fillRect/>
          </a:stretch>
        </p:blipFill>
        <p:spPr>
          <a:xfrm>
            <a:off x="2675965" y="1423707"/>
            <a:ext cx="6239435" cy="451989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9" name="Picture 8">
            <a:extLst>
              <a:ext uri="{FF2B5EF4-FFF2-40B4-BE49-F238E27FC236}">
                <a16:creationId xmlns:a16="http://schemas.microsoft.com/office/drawing/2014/main" id="{A22B0444-04CE-34B7-E646-320E50587F71}"/>
              </a:ext>
            </a:extLst>
          </p:cNvPr>
          <p:cNvPicPr>
            <a:picLocks noChangeAspect="1"/>
          </p:cNvPicPr>
          <p:nvPr/>
        </p:nvPicPr>
        <p:blipFill>
          <a:blip r:embed="rId2"/>
          <a:stretch>
            <a:fillRect/>
          </a:stretch>
        </p:blipFill>
        <p:spPr>
          <a:xfrm>
            <a:off x="1519519" y="1311160"/>
            <a:ext cx="8821269" cy="510910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1417</Words>
  <Application>Microsoft Office PowerPoint</Application>
  <PresentationFormat>Widescreen</PresentationFormat>
  <Paragraphs>105</Paragraphs>
  <Slides>18</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Roshani Pothare</cp:lastModifiedBy>
  <cp:revision>13</cp:revision>
  <dcterms:created xsi:type="dcterms:W3CDTF">2025-07-08T05:06:56Z</dcterms:created>
  <dcterms:modified xsi:type="dcterms:W3CDTF">2026-09-13T18:45:44Z</dcterms:modified>
</cp:coreProperties>
</file>